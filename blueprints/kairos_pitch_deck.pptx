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ln/>
        </p:spPr>
      </p:sp>
      <p:sp>
        <p:nvSpPr>
          <p:cNvPr id="36" name="Shape 34"/>
          <p:cNvSpPr/>
          <p:nvPr/>
        </p:nvSpPr>
        <p:spPr>
          <a:xfrm>
            <a:off x="6400800" y="1828800"/>
            <a:ext cx="3657600" cy="3657600"/>
          </a:xfrm>
          <a:prstGeom prst="ellipse">
            <a:avLst/>
          </a:prstGeom>
          <a:ln/>
        </p:spPr>
      </p:sp>
      <p:sp>
        <p:nvSpPr>
          <p:cNvPr id="37" name="Text 35"/>
          <p:cNvSpPr/>
          <p:nvPr/>
        </p:nvSpPr>
        <p:spPr>
          <a:xfrm>
            <a:off x="457200" y="7315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ECONOMY ON ARC  ·  2026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57200" y="10058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0" b="1" spc="-400" kern="0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KAIROS</a:t>
            </a:r>
            <a:endParaRPr lang="en-US" sz="9600" dirty="0"/>
          </a:p>
        </p:txBody>
      </p:sp>
      <p:sp>
        <p:nvSpPr>
          <p:cNvPr id="39" name="Shape 37"/>
          <p:cNvSpPr/>
          <p:nvPr/>
        </p:nvSpPr>
        <p:spPr>
          <a:xfrm>
            <a:off x="457200" y="2487168"/>
            <a:ext cx="3200400" cy="45720"/>
          </a:xfrm>
          <a:prstGeom prst="rect">
            <a:avLst/>
          </a:prstGeom>
          <a:ln/>
        </p:spPr>
      </p:sp>
      <p:sp>
        <p:nvSpPr>
          <p:cNvPr id="40" name="Text 38"/>
          <p:cNvSpPr/>
          <p:nvPr/>
        </p:nvSpPr>
        <p:spPr>
          <a:xfrm>
            <a:off x="457200" y="2615184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governed moment every trade earns its execution.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457200" y="3072384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00E5A0">
              <a:alpha val="13000"/>
            </a:srgbClr>
          </a:solidFill>
          <a:ln w="6350">
            <a:solidFill>
              <a:srgbClr val="00E5A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3776" y="3081528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L1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1536192" y="3072384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2775CA">
              <a:alpha val="13000"/>
            </a:srgbClr>
          </a:solidFill>
          <a:ln w="6350">
            <a:solidFill>
              <a:srgbClr val="2775C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572768" y="3081528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277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2615184" y="3072384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6C63FF">
              <a:alpha val="13000"/>
            </a:srgbClr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651760" y="3081528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Nanopayments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3694176" y="3072384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00E5A0">
              <a:alpha val="13000"/>
            </a:srgbClr>
          </a:solidFill>
          <a:ln w="6350">
            <a:solidFill>
              <a:srgbClr val="00E5A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730752" y="3081528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Wallets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773168" y="3072384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6C63FF">
              <a:alpha val="13000"/>
            </a:srgbClr>
          </a:solidFill>
          <a:ln w="6350">
            <a:solidFill>
              <a:srgbClr val="6C63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9744" y="3081528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5852160" y="3072384"/>
            <a:ext cx="1005840" cy="201168"/>
          </a:xfrm>
          <a:prstGeom prst="roundRect">
            <a:avLst>
              <a:gd name="adj" fmla="val 18182"/>
            </a:avLst>
          </a:prstGeom>
          <a:solidFill>
            <a:srgbClr val="F0A500">
              <a:alpha val="13000"/>
            </a:srgbClr>
          </a:solidFill>
          <a:ln w="6350">
            <a:solidFill>
              <a:srgbClr val="F0A5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88736" y="3081528"/>
            <a:ext cx="93268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NOVTIA Governor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457200" y="3749040"/>
            <a:ext cx="1645920" cy="822960"/>
          </a:xfrm>
          <a:prstGeom prst="rect">
            <a:avLst/>
          </a:prstGeom>
          <a:solidFill>
            <a:srgbClr val="6C63FF">
              <a:alpha val="7000"/>
            </a:srgbClr>
          </a:solidFill>
          <a:ln w="6350">
            <a:solidFill>
              <a:srgbClr val="6C63FF">
                <a:alpha val="27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7200" y="380390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-50" kern="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890+</a:t>
            </a:r>
            <a:endParaRPr lang="en-US" sz="2400" dirty="0"/>
          </a:p>
        </p:txBody>
      </p:sp>
      <p:sp>
        <p:nvSpPr>
          <p:cNvPr id="55" name="Text 53"/>
          <p:cNvSpPr/>
          <p:nvPr/>
        </p:nvSpPr>
        <p:spPr>
          <a:xfrm>
            <a:off x="457200" y="42245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Cycles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2194560" y="3749040"/>
            <a:ext cx="1645920" cy="822960"/>
          </a:xfrm>
          <a:prstGeom prst="rect">
            <a:avLst/>
          </a:prstGeom>
          <a:solidFill>
            <a:srgbClr val="00E5A0">
              <a:alpha val="7000"/>
            </a:srgbClr>
          </a:solidFill>
          <a:ln w="6350">
            <a:solidFill>
              <a:srgbClr val="00E5A0">
                <a:alpha val="27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194560" y="380390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-50" kern="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2400" dirty="0"/>
          </a:p>
        </p:txBody>
      </p:sp>
      <p:sp>
        <p:nvSpPr>
          <p:cNvPr id="58" name="Text 56"/>
          <p:cNvSpPr/>
          <p:nvPr/>
        </p:nvSpPr>
        <p:spPr>
          <a:xfrm>
            <a:off x="2194560" y="42245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Tier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931920" y="3749040"/>
            <a:ext cx="1645920" cy="822960"/>
          </a:xfrm>
          <a:prstGeom prst="rect">
            <a:avLst/>
          </a:prstGeom>
          <a:solidFill>
            <a:srgbClr val="F0A500">
              <a:alpha val="7000"/>
            </a:srgbClr>
          </a:solidFill>
          <a:ln w="6350">
            <a:solidFill>
              <a:srgbClr val="F0A500">
                <a:alpha val="27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931920" y="380390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-50" kern="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4/48</a:t>
            </a:r>
            <a:endParaRPr lang="en-US" sz="2400" dirty="0"/>
          </a:p>
        </p:txBody>
      </p:sp>
      <p:sp>
        <p:nvSpPr>
          <p:cNvPr id="61" name="Text 59"/>
          <p:cNvSpPr/>
          <p:nvPr/>
        </p:nvSpPr>
        <p:spPr>
          <a:xfrm>
            <a:off x="3931920" y="42245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 Rank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669280" y="3749040"/>
            <a:ext cx="1645920" cy="822960"/>
          </a:xfrm>
          <a:prstGeom prst="rect">
            <a:avLst/>
          </a:prstGeom>
          <a:solidFill>
            <a:srgbClr val="2775CA">
              <a:alpha val="7000"/>
            </a:srgbClr>
          </a:solidFill>
          <a:ln w="6350">
            <a:solidFill>
              <a:srgbClr val="2775CA">
                <a:alpha val="27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69280" y="380390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-50" kern="0" dirty="0">
                <a:solidFill>
                  <a:srgbClr val="277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2400" dirty="0"/>
          </a:p>
        </p:txBody>
      </p:sp>
      <p:sp>
        <p:nvSpPr>
          <p:cNvPr id="64" name="Text 62"/>
          <p:cNvSpPr/>
          <p:nvPr/>
        </p:nvSpPr>
        <p:spPr>
          <a:xfrm>
            <a:off x="5669280" y="42245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IPFS Artifacts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7406640" y="3749040"/>
            <a:ext cx="1645920" cy="822960"/>
          </a:xfrm>
          <a:prstGeom prst="rect">
            <a:avLst/>
          </a:prstGeom>
          <a:solidFill>
            <a:srgbClr val="8884AA">
              <a:alpha val="7000"/>
            </a:srgbClr>
          </a:solidFill>
          <a:ln w="6350">
            <a:solidFill>
              <a:srgbClr val="8884AA">
                <a:alpha val="27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06640" y="380390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spc="-50" kern="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2400" dirty="0"/>
          </a:p>
        </p:txBody>
      </p:sp>
      <p:sp>
        <p:nvSpPr>
          <p:cNvPr id="67" name="Text 65"/>
          <p:cNvSpPr/>
          <p:nvPr/>
        </p:nvSpPr>
        <p:spPr>
          <a:xfrm>
            <a:off x="7406640" y="4224528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spc="100" kern="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Events/Cycle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0" y="4892040"/>
            <a:ext cx="9144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spc="200" kern="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NOVTIA Ltd  ·  London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5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 can decide. They cannot govern themselves.</a:t>
            </a:r>
            <a:endParaRPr lang="en-US" sz="2600" dirty="0"/>
          </a:p>
        </p:txBody>
      </p:sp>
      <p:sp>
        <p:nvSpPr>
          <p:cNvPr id="38" name="Shape 36"/>
          <p:cNvSpPr/>
          <p:nvPr/>
        </p:nvSpPr>
        <p:spPr>
          <a:xfrm>
            <a:off x="457200" y="1234440"/>
            <a:ext cx="128016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128930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$2–20</a:t>
            </a:r>
            <a:endParaRPr lang="en-US" sz="2000" dirty="0"/>
          </a:p>
        </p:txBody>
      </p:sp>
      <p:sp>
        <p:nvSpPr>
          <p:cNvPr id="40" name="Text 38"/>
          <p:cNvSpPr/>
          <p:nvPr/>
        </p:nvSpPr>
        <p:spPr>
          <a:xfrm>
            <a:off x="1920240" y="1307592"/>
            <a:ext cx="6766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cost per action on Ethereum mainnet — makes sub-cent governance impossible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2103120"/>
            <a:ext cx="128016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215798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920240" y="2176272"/>
            <a:ext cx="6766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payment primitives for autonomous agent governance on any major chain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2971800"/>
            <a:ext cx="128016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0266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920240" y="3044952"/>
            <a:ext cx="6766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human oversight currently works — interventional, not structural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3840480"/>
            <a:ext cx="1280160" cy="658368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389534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Unknown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1920240" y="3913632"/>
            <a:ext cx="67665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On-chain proof that a trade was governed before execution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548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that pays for its own governance.</a:t>
            </a:r>
            <a:endParaRPr lang="en-US" sz="2600" dirty="0"/>
          </a:p>
        </p:txBody>
      </p:sp>
      <p:sp>
        <p:nvSpPr>
          <p:cNvPr id="38" name="Text 36"/>
          <p:cNvSpPr/>
          <p:nvPr/>
        </p:nvSpPr>
        <p:spPr>
          <a:xfrm>
            <a:off x="457200" y="10972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Kairos uses Circle Nanopayments to bill every governance stage, every data pull, and every compute event — creating an economic feedback loop where the cost of governance is the proof of governance.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1828800"/>
            <a:ext cx="1828800" cy="1005840"/>
          </a:xfrm>
          <a:prstGeom prst="rect">
            <a:avLst/>
          </a:prstGeom>
          <a:solidFill>
            <a:srgbClr val="2775CA">
              <a:alpha val="8000"/>
            </a:srgbClr>
          </a:solidFill>
          <a:ln w="10160">
            <a:solidFill>
              <a:srgbClr val="2775CA">
                <a:alpha val="33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1828800"/>
            <a:ext cx="1828800" cy="36576"/>
          </a:xfrm>
          <a:prstGeom prst="rect">
            <a:avLst/>
          </a:prstGeom>
          <a:solidFill>
            <a:srgbClr val="2775CA"/>
          </a:solidFill>
          <a:ln/>
        </p:spPr>
      </p:sp>
      <p:sp>
        <p:nvSpPr>
          <p:cNvPr id="41" name="Text 39"/>
          <p:cNvSpPr/>
          <p:nvPr/>
        </p:nvSpPr>
        <p:spPr>
          <a:xfrm>
            <a:off x="530352" y="192024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Pull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30352" y="2249424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77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277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Gateway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560320" y="1828800"/>
            <a:ext cx="1828800" cy="1005840"/>
          </a:xfrm>
          <a:prstGeom prst="rect">
            <a:avLst/>
          </a:prstGeom>
          <a:solidFill>
            <a:srgbClr val="6C63FF">
              <a:alpha val="8000"/>
            </a:srgbClr>
          </a:solidFill>
          <a:ln w="10160">
            <a:solidFill>
              <a:srgbClr val="6C63FF">
                <a:alpha val="33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560320" y="1828800"/>
            <a:ext cx="182880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5" name="Text 43"/>
          <p:cNvSpPr/>
          <p:nvPr/>
        </p:nvSpPr>
        <p:spPr>
          <a:xfrm>
            <a:off x="2633472" y="192024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2633472" y="2249424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stages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Nanopayments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1828800"/>
            <a:ext cx="1828800" cy="1005840"/>
          </a:xfrm>
          <a:prstGeom prst="rect">
            <a:avLst/>
          </a:prstGeom>
          <a:solidFill>
            <a:srgbClr val="F0A500">
              <a:alpha val="8000"/>
            </a:srgbClr>
          </a:solidFill>
          <a:ln w="10160">
            <a:solidFill>
              <a:srgbClr val="F0A500">
                <a:alpha val="33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1828800"/>
            <a:ext cx="182880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9" name="Text 47"/>
          <p:cNvSpPr/>
          <p:nvPr/>
        </p:nvSpPr>
        <p:spPr>
          <a:xfrm>
            <a:off x="4736592" y="192024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4736592" y="2249424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+ SAGE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Nanopayments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766560" y="1828800"/>
            <a:ext cx="1828800" cy="1005840"/>
          </a:xfrm>
          <a:prstGeom prst="rect">
            <a:avLst/>
          </a:prstGeom>
          <a:solidFill>
            <a:srgbClr val="00E5A0">
              <a:alpha val="8000"/>
            </a:srgbClr>
          </a:solidFill>
          <a:ln w="10160">
            <a:solidFill>
              <a:srgbClr val="00E5A0">
                <a:alpha val="33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766560" y="1828800"/>
            <a:ext cx="1828800" cy="36576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53" name="Text 51"/>
          <p:cNvSpPr/>
          <p:nvPr/>
        </p:nvSpPr>
        <p:spPr>
          <a:xfrm>
            <a:off x="6839712" y="1920240"/>
            <a:ext cx="16824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Settlement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6839712" y="2249424"/>
            <a:ext cx="168249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on Arc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Wallets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304288" y="2331720"/>
            <a:ext cx="219456" cy="0"/>
          </a:xfrm>
          <a:prstGeom prst="line">
            <a:avLst/>
          </a:prstGeom>
          <a:noFill/>
          <a:ln w="12700">
            <a:solidFill>
              <a:srgbClr val="3D3B5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340864" y="223113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407408" y="2331720"/>
            <a:ext cx="219456" cy="0"/>
          </a:xfrm>
          <a:prstGeom prst="line">
            <a:avLst/>
          </a:prstGeom>
          <a:noFill/>
          <a:ln w="12700">
            <a:solidFill>
              <a:srgbClr val="3D3B5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443984" y="223113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510528" y="2331720"/>
            <a:ext cx="219456" cy="0"/>
          </a:xfrm>
          <a:prstGeom prst="line">
            <a:avLst/>
          </a:prstGeom>
          <a:noFill/>
          <a:ln w="12700">
            <a:solidFill>
              <a:srgbClr val="3D3B5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47104" y="2231136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00E5A0">
              <a:alpha val="4000"/>
            </a:srgbClr>
          </a:solidFill>
          <a:ln w="6350">
            <a:solidFill>
              <a:srgbClr val="00E5A0">
                <a:alpha val="2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40080" y="3127248"/>
            <a:ext cx="7863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50" kern="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Arc is the prerequisite — not the optimisation: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640080" y="3346704"/>
            <a:ext cx="7863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Ethereum mainnet, each $0.001 governance payment costs $2–20 in ETH gas. The entire economic model is structurally impossible on gas chains. Arc's USDC-native settlement with deterministic sub-second finality is what makes per-action governance economically viable at scale.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TRACKS · ONE CYCLE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54864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trading cycle simultaneously touches all four hackathon tracks.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274320" y="1051560"/>
            <a:ext cx="2011680" cy="1371600"/>
          </a:xfrm>
          <a:prstGeom prst="rect">
            <a:avLst/>
          </a:prstGeom>
          <a:solidFill>
            <a:srgbClr val="6C63FF">
              <a:alpha val="5000"/>
            </a:srgbClr>
          </a:solidFill>
          <a:ln w="6350">
            <a:solidFill>
              <a:srgbClr val="6C63FF">
                <a:alpha val="27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4320" y="1051560"/>
            <a:ext cx="2011680" cy="36576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Text 38"/>
          <p:cNvSpPr/>
          <p:nvPr/>
        </p:nvSpPr>
        <p:spPr>
          <a:xfrm>
            <a:off x="384048" y="11430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01 · PRIMARY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384048" y="13075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Agent-to-Agent Loop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84048" y="1581912"/>
            <a:ext cx="1792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Circle Nanopayments per cycle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$0.001 per governance stage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pays machine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human intermediary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377440" y="1051560"/>
            <a:ext cx="2011680" cy="1371600"/>
          </a:xfrm>
          <a:prstGeom prst="rect">
            <a:avLst/>
          </a:prstGeom>
          <a:solidFill>
            <a:srgbClr val="2775CA">
              <a:alpha val="5000"/>
            </a:srgbClr>
          </a:solidFill>
          <a:ln w="6350">
            <a:solidFill>
              <a:srgbClr val="2775CA">
                <a:alpha val="27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0" y="1051560"/>
            <a:ext cx="2011680" cy="36576"/>
          </a:xfrm>
          <a:prstGeom prst="rect">
            <a:avLst/>
          </a:prstGeom>
          <a:solidFill>
            <a:srgbClr val="2775CA"/>
          </a:solidFill>
          <a:ln/>
        </p:spPr>
      </p:sp>
      <p:sp>
        <p:nvSpPr>
          <p:cNvPr id="45" name="Text 43"/>
          <p:cNvSpPr/>
          <p:nvPr/>
        </p:nvSpPr>
        <p:spPr>
          <a:xfrm>
            <a:off x="2487168" y="11430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277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02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487168" y="13075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Per-API Monetisation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2487168" y="1581912"/>
            <a:ext cx="1792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x402 AIsa endpoint calls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$0.0022–$0.048 per call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Gateway settlement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79 endpoints available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480560" y="1051560"/>
            <a:ext cx="2011680" cy="1371600"/>
          </a:xfrm>
          <a:prstGeom prst="rect">
            <a:avLst/>
          </a:prstGeom>
          <a:solidFill>
            <a:srgbClr val="F0A500">
              <a:alpha val="5000"/>
            </a:srgbClr>
          </a:solidFill>
          <a:ln w="6350">
            <a:solidFill>
              <a:srgbClr val="F0A500">
                <a:alpha val="27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480560" y="1051560"/>
            <a:ext cx="2011680" cy="36576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50" name="Text 48"/>
          <p:cNvSpPr/>
          <p:nvPr/>
        </p:nvSpPr>
        <p:spPr>
          <a:xfrm>
            <a:off x="4590288" y="11430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03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4590288" y="13075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Usage-Based Compute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590288" y="1581912"/>
            <a:ext cx="1792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+ SAGE Nanopayments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→ Gemini → OpenAI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per inference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per subscription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6583680" y="1051560"/>
            <a:ext cx="2011680" cy="1371600"/>
          </a:xfrm>
          <a:prstGeom prst="rect">
            <a:avLst/>
          </a:prstGeom>
          <a:solidFill>
            <a:srgbClr val="00E5A0">
              <a:alpha val="5000"/>
            </a:srgbClr>
          </a:solidFill>
          <a:ln w="6350">
            <a:solidFill>
              <a:srgbClr val="00E5A0">
                <a:alpha val="27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583680" y="1051560"/>
            <a:ext cx="2011680" cy="36576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55" name="Text 53"/>
          <p:cNvSpPr/>
          <p:nvPr/>
        </p:nvSpPr>
        <p:spPr>
          <a:xfrm>
            <a:off x="6693408" y="114300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04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6693408" y="1307592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Micro-Commerce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693408" y="1581912"/>
            <a:ext cx="179222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trade settlement on Arc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Wallets signing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Sub-second finality</a:t>
            </a:r>
            <a:endParaRPr lang="en-US" sz="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per-interaction, not batched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274320" y="2578608"/>
            <a:ext cx="8595360" cy="36576"/>
          </a:xfrm>
          <a:prstGeom prst="rect">
            <a:avLst/>
          </a:prstGeom>
          <a:solidFill>
            <a:srgbClr val="3D3B5A"/>
          </a:solidFill>
          <a:ln/>
        </p:spPr>
      </p:sp>
      <p:sp>
        <p:nvSpPr>
          <p:cNvPr id="59" name="Shape 57"/>
          <p:cNvSpPr/>
          <p:nvPr/>
        </p:nvSpPr>
        <p:spPr>
          <a:xfrm>
            <a:off x="603504" y="2487168"/>
            <a:ext cx="219456" cy="219456"/>
          </a:xfrm>
          <a:prstGeom prst="ellipse">
            <a:avLst/>
          </a:prstGeom>
          <a:solidFill>
            <a:srgbClr val="2775CA"/>
          </a:solidFill>
          <a:ln/>
        </p:spPr>
      </p:sp>
      <p:sp>
        <p:nvSpPr>
          <p:cNvPr id="60" name="Text 58"/>
          <p:cNvSpPr/>
          <p:nvPr/>
        </p:nvSpPr>
        <p:spPr>
          <a:xfrm>
            <a:off x="347472" y="276148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277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7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277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pulls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975104" y="2487168"/>
            <a:ext cx="219456" cy="219456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62" name="Text 60"/>
          <p:cNvSpPr/>
          <p:nvPr/>
        </p:nvSpPr>
        <p:spPr>
          <a:xfrm>
            <a:off x="1719072" y="276148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</a:t>
            </a:r>
            <a:endParaRPr lang="en-US" sz="700" dirty="0"/>
          </a:p>
        </p:txBody>
      </p:sp>
      <p:sp>
        <p:nvSpPr>
          <p:cNvPr id="63" name="Shape 61"/>
          <p:cNvSpPr/>
          <p:nvPr/>
        </p:nvSpPr>
        <p:spPr>
          <a:xfrm>
            <a:off x="2935224" y="2487168"/>
            <a:ext cx="219456" cy="219456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64" name="Text 62"/>
          <p:cNvSpPr/>
          <p:nvPr/>
        </p:nvSpPr>
        <p:spPr>
          <a:xfrm>
            <a:off x="2679192" y="276148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</a:t>
            </a:r>
            <a:endParaRPr lang="en-US" sz="700" dirty="0"/>
          </a:p>
        </p:txBody>
      </p:sp>
      <p:sp>
        <p:nvSpPr>
          <p:cNvPr id="65" name="Shape 63"/>
          <p:cNvSpPr/>
          <p:nvPr/>
        </p:nvSpPr>
        <p:spPr>
          <a:xfrm>
            <a:off x="3895344" y="2487168"/>
            <a:ext cx="219456" cy="219456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66" name="Text 64"/>
          <p:cNvSpPr/>
          <p:nvPr/>
        </p:nvSpPr>
        <p:spPr>
          <a:xfrm>
            <a:off x="3639312" y="276148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626864" y="2487168"/>
            <a:ext cx="219456" cy="219456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68" name="Text 66"/>
          <p:cNvSpPr/>
          <p:nvPr/>
        </p:nvSpPr>
        <p:spPr>
          <a:xfrm>
            <a:off x="4370832" y="276148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</a:t>
            </a:r>
            <a:endParaRPr lang="en-US" sz="7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visory</a:t>
            </a:r>
            <a:endParaRPr lang="en-US" sz="700" dirty="0"/>
          </a:p>
        </p:txBody>
      </p:sp>
      <p:sp>
        <p:nvSpPr>
          <p:cNvPr id="69" name="Shape 67"/>
          <p:cNvSpPr/>
          <p:nvPr/>
        </p:nvSpPr>
        <p:spPr>
          <a:xfrm>
            <a:off x="5541264" y="2487168"/>
            <a:ext cx="219456" cy="219456"/>
          </a:xfrm>
          <a:prstGeom prst="ellipse">
            <a:avLst/>
          </a:prstGeom>
          <a:solidFill>
            <a:srgbClr val="6C63FF"/>
          </a:solidFill>
          <a:ln/>
        </p:spPr>
      </p:sp>
      <p:sp>
        <p:nvSpPr>
          <p:cNvPr id="70" name="Text 68"/>
          <p:cNvSpPr/>
          <p:nvPr/>
        </p:nvSpPr>
        <p:spPr>
          <a:xfrm>
            <a:off x="5285232" y="276148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</a:t>
            </a:r>
            <a:endParaRPr lang="en-US" sz="7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Router</a:t>
            </a:r>
            <a:endParaRPr lang="en-US" sz="700" dirty="0"/>
          </a:p>
        </p:txBody>
      </p:sp>
      <p:sp>
        <p:nvSpPr>
          <p:cNvPr id="71" name="Shape 69"/>
          <p:cNvSpPr/>
          <p:nvPr/>
        </p:nvSpPr>
        <p:spPr>
          <a:xfrm>
            <a:off x="6547104" y="2487168"/>
            <a:ext cx="219456" cy="219456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72" name="Text 70"/>
          <p:cNvSpPr/>
          <p:nvPr/>
        </p:nvSpPr>
        <p:spPr>
          <a:xfrm>
            <a:off x="6291072" y="276148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</a:t>
            </a:r>
            <a:endParaRPr lang="en-US" sz="700" dirty="0"/>
          </a:p>
        </p:txBody>
      </p:sp>
      <p:sp>
        <p:nvSpPr>
          <p:cNvPr id="73" name="Shape 71"/>
          <p:cNvSpPr/>
          <p:nvPr/>
        </p:nvSpPr>
        <p:spPr>
          <a:xfrm>
            <a:off x="7370064" y="2487168"/>
            <a:ext cx="219456" cy="219456"/>
          </a:xfrm>
          <a:prstGeom prst="ellipse">
            <a:avLst/>
          </a:prstGeom>
          <a:solidFill>
            <a:srgbClr val="F0A500"/>
          </a:solidFill>
          <a:ln/>
        </p:spPr>
      </p:sp>
      <p:sp>
        <p:nvSpPr>
          <p:cNvPr id="74" name="Text 72"/>
          <p:cNvSpPr/>
          <p:nvPr/>
        </p:nvSpPr>
        <p:spPr>
          <a:xfrm>
            <a:off x="7114032" y="276148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</a:t>
            </a:r>
            <a:endParaRPr lang="en-US" sz="700" dirty="0"/>
          </a:p>
        </p:txBody>
      </p:sp>
      <p:sp>
        <p:nvSpPr>
          <p:cNvPr id="75" name="Shape 73"/>
          <p:cNvSpPr/>
          <p:nvPr/>
        </p:nvSpPr>
        <p:spPr>
          <a:xfrm>
            <a:off x="8284464" y="2487168"/>
            <a:ext cx="219456" cy="219456"/>
          </a:xfrm>
          <a:prstGeom prst="ellipse">
            <a:avLst/>
          </a:prstGeom>
          <a:solidFill>
            <a:srgbClr val="00E5A0"/>
          </a:solidFill>
          <a:ln/>
        </p:spPr>
      </p:sp>
      <p:sp>
        <p:nvSpPr>
          <p:cNvPr id="76" name="Text 74"/>
          <p:cNvSpPr/>
          <p:nvPr/>
        </p:nvSpPr>
        <p:spPr>
          <a:xfrm>
            <a:off x="8028432" y="2761488"/>
            <a:ext cx="7315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</a:t>
            </a:r>
            <a:endParaRPr lang="en-US" sz="7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70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Settle</a:t>
            </a:r>
            <a:endParaRPr lang="en-US" sz="700" dirty="0"/>
          </a:p>
        </p:txBody>
      </p:sp>
      <p:sp>
        <p:nvSpPr>
          <p:cNvPr id="77" name="Text 75"/>
          <p:cNvSpPr/>
          <p:nvPr/>
        </p:nvSpPr>
        <p:spPr>
          <a:xfrm>
            <a:off x="274320" y="3255264"/>
            <a:ext cx="8595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spc="30" kern="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13 Circle payment events per cycle  ·  130+ Arc transactions per 10 cycles  ·  All 4 tracks fire simultaneously →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274320" y="3566160"/>
            <a:ext cx="1920240" cy="585216"/>
          </a:xfrm>
          <a:prstGeom prst="rect">
            <a:avLst/>
          </a:prstGeom>
          <a:solidFill>
            <a:srgbClr val="6C63FF">
              <a:alpha val="5000"/>
            </a:srgbClr>
          </a:solidFill>
          <a:ln w="5080">
            <a:solidFill>
              <a:srgbClr val="6C63FF">
                <a:alpha val="20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74320" y="362102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-50" kern="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130+</a:t>
            </a:r>
            <a:endParaRPr lang="en-US" sz="1800" dirty="0"/>
          </a:p>
        </p:txBody>
      </p:sp>
      <p:sp>
        <p:nvSpPr>
          <p:cNvPr id="80" name="Text 78"/>
          <p:cNvSpPr/>
          <p:nvPr/>
        </p:nvSpPr>
        <p:spPr>
          <a:xfrm>
            <a:off x="274320" y="387705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txns / 10 cycles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2450592" y="3566160"/>
            <a:ext cx="1920240" cy="585216"/>
          </a:xfrm>
          <a:prstGeom prst="rect">
            <a:avLst/>
          </a:prstGeom>
          <a:solidFill>
            <a:srgbClr val="00E5A0">
              <a:alpha val="5000"/>
            </a:srgbClr>
          </a:solidFill>
          <a:ln w="5080">
            <a:solidFill>
              <a:srgbClr val="00E5A0">
                <a:alpha val="20000"/>
              </a:srgbClr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2450592" y="362102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-50" kern="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$0.001</a:t>
            </a:r>
            <a:endParaRPr lang="en-US" sz="1800" dirty="0"/>
          </a:p>
        </p:txBody>
      </p:sp>
      <p:sp>
        <p:nvSpPr>
          <p:cNvPr id="83" name="Text 81"/>
          <p:cNvSpPr/>
          <p:nvPr/>
        </p:nvSpPr>
        <p:spPr>
          <a:xfrm>
            <a:off x="2450592" y="387705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governed action</a:t>
            </a:r>
            <a:endParaRPr lang="en-US" sz="750" dirty="0"/>
          </a:p>
        </p:txBody>
      </p:sp>
      <p:sp>
        <p:nvSpPr>
          <p:cNvPr id="84" name="Shape 82"/>
          <p:cNvSpPr/>
          <p:nvPr/>
        </p:nvSpPr>
        <p:spPr>
          <a:xfrm>
            <a:off x="4626864" y="3566160"/>
            <a:ext cx="1920240" cy="585216"/>
          </a:xfrm>
          <a:prstGeom prst="rect">
            <a:avLst/>
          </a:prstGeom>
          <a:solidFill>
            <a:srgbClr val="F0A500">
              <a:alpha val="5000"/>
            </a:srgbClr>
          </a:solidFill>
          <a:ln w="5080">
            <a:solidFill>
              <a:srgbClr val="F0A500">
                <a:alpha val="20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626864" y="362102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-50" kern="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4/4</a:t>
            </a:r>
            <a:endParaRPr lang="en-US" sz="1800" dirty="0"/>
          </a:p>
        </p:txBody>
      </p:sp>
      <p:sp>
        <p:nvSpPr>
          <p:cNvPr id="86" name="Text 84"/>
          <p:cNvSpPr/>
          <p:nvPr/>
        </p:nvSpPr>
        <p:spPr>
          <a:xfrm>
            <a:off x="4626864" y="387705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tracks simultaneous</a:t>
            </a:r>
            <a:endParaRPr lang="en-US" sz="750" dirty="0"/>
          </a:p>
        </p:txBody>
      </p:sp>
      <p:sp>
        <p:nvSpPr>
          <p:cNvPr id="87" name="Shape 85"/>
          <p:cNvSpPr/>
          <p:nvPr/>
        </p:nvSpPr>
        <p:spPr>
          <a:xfrm>
            <a:off x="6803136" y="3566160"/>
            <a:ext cx="1920240" cy="585216"/>
          </a:xfrm>
          <a:prstGeom prst="rect">
            <a:avLst/>
          </a:prstGeom>
          <a:solidFill>
            <a:srgbClr val="00E5A0">
              <a:alpha val="5000"/>
            </a:srgbClr>
          </a:solidFill>
          <a:ln w="5080">
            <a:solidFill>
              <a:srgbClr val="00E5A0">
                <a:alpha val="20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803136" y="3621024"/>
            <a:ext cx="1920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-50" kern="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89" name="Text 87"/>
          <p:cNvSpPr/>
          <p:nvPr/>
        </p:nvSpPr>
        <p:spPr>
          <a:xfrm>
            <a:off x="6803136" y="3877056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gas margin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2775CA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77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PAYMENT MAP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54864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payment events per cycle — every one verified on Arc.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65760" y="987552"/>
            <a:ext cx="4023360" cy="237744"/>
          </a:xfrm>
          <a:prstGeom prst="rect">
            <a:avLst/>
          </a:prstGeom>
          <a:solidFill>
            <a:srgbClr val="2775CA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10058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02  ·  PER-API MONETISATION  ·  x402 + Circle Gateway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65760" y="1261872"/>
            <a:ext cx="4023360" cy="256032"/>
          </a:xfrm>
          <a:prstGeom prst="rect">
            <a:avLst/>
          </a:prstGeom>
          <a:solidFill>
            <a:srgbClr val="2775CA">
              <a:alpha val="3000"/>
            </a:srgbClr>
          </a:solidFill>
          <a:ln w="3810">
            <a:solidFill>
              <a:srgbClr val="2775CA">
                <a:alpha val="13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38912" y="1298448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94944" y="12984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AIsa /financial/prices/snapshot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2743200" y="12984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77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3877056" y="12984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$0.024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365760" y="1554480"/>
            <a:ext cx="4023360" cy="256032"/>
          </a:xfrm>
          <a:prstGeom prst="rect">
            <a:avLst/>
          </a:prstGeom>
          <a:solidFill>
            <a:srgbClr val="2775CA">
              <a:alpha val="3000"/>
            </a:srgbClr>
          </a:solidFill>
          <a:ln w="3810">
            <a:solidFill>
              <a:srgbClr val="2775CA">
                <a:alpha val="13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38912" y="1591056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94944" y="159105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AIsa /financial/prices/snapshot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2743200" y="159105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77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3877056" y="159105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$0.024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365760" y="1847088"/>
            <a:ext cx="4023360" cy="256032"/>
          </a:xfrm>
          <a:prstGeom prst="rect">
            <a:avLst/>
          </a:prstGeom>
          <a:solidFill>
            <a:srgbClr val="2775CA">
              <a:alpha val="3000"/>
            </a:srgbClr>
          </a:solidFill>
          <a:ln w="3810">
            <a:solidFill>
              <a:srgbClr val="2775CA">
                <a:alpha val="13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8912" y="1883664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94944" y="188366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AIsa /twitter/tweet/advanced_search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2743200" y="188366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77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3877056" y="188366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$0.002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365760" y="2139696"/>
            <a:ext cx="4023360" cy="256032"/>
          </a:xfrm>
          <a:prstGeom prst="rect">
            <a:avLst/>
          </a:prstGeom>
          <a:solidFill>
            <a:srgbClr val="2775CA">
              <a:alpha val="3000"/>
            </a:srgbClr>
          </a:solidFill>
          <a:ln w="3810">
            <a:solidFill>
              <a:srgbClr val="2775CA">
                <a:alpha val="13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38912" y="2176272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694944" y="21762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AIsa /financial/news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2743200" y="21762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77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</a:t>
            </a:r>
            <a:endParaRPr lang="en-US" sz="750" dirty="0"/>
          </a:p>
        </p:txBody>
      </p:sp>
      <p:sp>
        <p:nvSpPr>
          <p:cNvPr id="59" name="Text 57"/>
          <p:cNvSpPr/>
          <p:nvPr/>
        </p:nvSpPr>
        <p:spPr>
          <a:xfrm>
            <a:off x="3877056" y="21762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$0.048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365760" y="2432304"/>
            <a:ext cx="4023360" cy="256032"/>
          </a:xfrm>
          <a:prstGeom prst="rect">
            <a:avLst/>
          </a:prstGeom>
          <a:solidFill>
            <a:srgbClr val="2775CA">
              <a:alpha val="3000"/>
            </a:srgbClr>
          </a:solidFill>
          <a:ln w="3810">
            <a:solidFill>
              <a:srgbClr val="2775CA">
                <a:alpha val="13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8912" y="2468880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694944" y="24688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AIsa /perplexity/sonar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2743200" y="24688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277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</a:t>
            </a:r>
            <a:endParaRPr lang="en-US" sz="750" dirty="0"/>
          </a:p>
        </p:txBody>
      </p:sp>
      <p:sp>
        <p:nvSpPr>
          <p:cNvPr id="64" name="Text 62"/>
          <p:cNvSpPr/>
          <p:nvPr/>
        </p:nvSpPr>
        <p:spPr>
          <a:xfrm>
            <a:off x="3877056" y="24688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$0.012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4754880" y="987552"/>
            <a:ext cx="4023360" cy="237744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66" name="Text 64"/>
          <p:cNvSpPr/>
          <p:nvPr/>
        </p:nvSpPr>
        <p:spPr>
          <a:xfrm>
            <a:off x="4846320" y="100584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01  ·  GOVERNANCE  ·  Circle Nanopayments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754880" y="1261872"/>
            <a:ext cx="4023360" cy="256032"/>
          </a:xfrm>
          <a:prstGeom prst="rect">
            <a:avLst/>
          </a:prstGeom>
          <a:solidFill>
            <a:srgbClr val="6C63FF">
              <a:alpha val="3000"/>
            </a:srgbClr>
          </a:solidFill>
          <a:ln w="3810">
            <a:solidFill>
              <a:srgbClr val="6C63FF">
                <a:alpha val="13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828032" y="1298448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5084064" y="1298448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 enforcement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7132320" y="1298448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Nanopayments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8266176" y="1298448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$0.001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4754880" y="1554480"/>
            <a:ext cx="4023360" cy="256032"/>
          </a:xfrm>
          <a:prstGeom prst="rect">
            <a:avLst/>
          </a:prstGeom>
          <a:solidFill>
            <a:srgbClr val="6C63FF">
              <a:alpha val="3000"/>
            </a:srgbClr>
          </a:solidFill>
          <a:ln w="3810">
            <a:solidFill>
              <a:srgbClr val="6C63FF">
                <a:alpha val="13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28032" y="1591056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5084064" y="1591056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integrity check</a:t>
            </a:r>
            <a:endParaRPr lang="en-US" sz="850" dirty="0"/>
          </a:p>
        </p:txBody>
      </p:sp>
      <p:sp>
        <p:nvSpPr>
          <p:cNvPr id="75" name="Text 73"/>
          <p:cNvSpPr/>
          <p:nvPr/>
        </p:nvSpPr>
        <p:spPr>
          <a:xfrm>
            <a:off x="7132320" y="1591056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Nanopayments</a:t>
            </a:r>
            <a:endParaRPr lang="en-US" sz="750" dirty="0"/>
          </a:p>
        </p:txBody>
      </p:sp>
      <p:sp>
        <p:nvSpPr>
          <p:cNvPr id="76" name="Text 74"/>
          <p:cNvSpPr/>
          <p:nvPr/>
        </p:nvSpPr>
        <p:spPr>
          <a:xfrm>
            <a:off x="8266176" y="1591056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$0.001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4754880" y="1847088"/>
            <a:ext cx="4023360" cy="256032"/>
          </a:xfrm>
          <a:prstGeom prst="rect">
            <a:avLst/>
          </a:prstGeom>
          <a:solidFill>
            <a:srgbClr val="6C63FF">
              <a:alpha val="3000"/>
            </a:srgbClr>
          </a:solidFill>
          <a:ln w="3810">
            <a:solidFill>
              <a:srgbClr val="6C63FF">
                <a:alpha val="13000"/>
              </a:srgbClr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828032" y="1883664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5084064" y="188366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simulation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7132320" y="188366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Nanopayments</a:t>
            </a:r>
            <a:endParaRPr lang="en-US" sz="750" dirty="0"/>
          </a:p>
        </p:txBody>
      </p:sp>
      <p:sp>
        <p:nvSpPr>
          <p:cNvPr id="81" name="Text 79"/>
          <p:cNvSpPr/>
          <p:nvPr/>
        </p:nvSpPr>
        <p:spPr>
          <a:xfrm>
            <a:off x="8266176" y="188366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$0.001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4754880" y="2139696"/>
            <a:ext cx="4023360" cy="256032"/>
          </a:xfrm>
          <a:prstGeom prst="rect">
            <a:avLst/>
          </a:prstGeom>
          <a:solidFill>
            <a:srgbClr val="6C63FF">
              <a:alpha val="3000"/>
            </a:srgbClr>
          </a:solidFill>
          <a:ln w="3810">
            <a:solidFill>
              <a:srgbClr val="6C63FF">
                <a:alpha val="13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828032" y="2176272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800" dirty="0"/>
          </a:p>
        </p:txBody>
      </p:sp>
      <p:sp>
        <p:nvSpPr>
          <p:cNvPr id="84" name="Text 82"/>
          <p:cNvSpPr/>
          <p:nvPr/>
        </p:nvSpPr>
        <p:spPr>
          <a:xfrm>
            <a:off x="5084064" y="217627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Supervisory decision</a:t>
            </a:r>
            <a:endParaRPr lang="en-US" sz="850" dirty="0"/>
          </a:p>
        </p:txBody>
      </p:sp>
      <p:sp>
        <p:nvSpPr>
          <p:cNvPr id="85" name="Text 83"/>
          <p:cNvSpPr/>
          <p:nvPr/>
        </p:nvSpPr>
        <p:spPr>
          <a:xfrm>
            <a:off x="7132320" y="217627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Nanopayments</a:t>
            </a:r>
            <a:endParaRPr lang="en-US" sz="750" dirty="0"/>
          </a:p>
        </p:txBody>
      </p:sp>
      <p:sp>
        <p:nvSpPr>
          <p:cNvPr id="86" name="Text 84"/>
          <p:cNvSpPr/>
          <p:nvPr/>
        </p:nvSpPr>
        <p:spPr>
          <a:xfrm>
            <a:off x="8266176" y="217627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$0.001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4754880" y="2432304"/>
            <a:ext cx="4023360" cy="256032"/>
          </a:xfrm>
          <a:prstGeom prst="rect">
            <a:avLst/>
          </a:prstGeom>
          <a:solidFill>
            <a:srgbClr val="6C63FF">
              <a:alpha val="3000"/>
            </a:srgbClr>
          </a:solidFill>
          <a:ln w="3810">
            <a:solidFill>
              <a:srgbClr val="6C63FF">
                <a:alpha val="13000"/>
              </a:srgbClr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828032" y="2468880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5084064" y="24688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Router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7132320" y="2468880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Nanopayments</a:t>
            </a:r>
            <a:endParaRPr lang="en-US" sz="750" dirty="0"/>
          </a:p>
        </p:txBody>
      </p:sp>
      <p:sp>
        <p:nvSpPr>
          <p:cNvPr id="91" name="Text 89"/>
          <p:cNvSpPr/>
          <p:nvPr/>
        </p:nvSpPr>
        <p:spPr>
          <a:xfrm>
            <a:off x="8266176" y="246888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$0.001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365760" y="2761488"/>
            <a:ext cx="4023360" cy="237744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93" name="Text 91"/>
          <p:cNvSpPr/>
          <p:nvPr/>
        </p:nvSpPr>
        <p:spPr>
          <a:xfrm>
            <a:off x="457200" y="277977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03  ·  COMPUTE  ·  Circle Nanopayments</a:t>
            </a:r>
            <a:endParaRPr lang="en-US" sz="750" dirty="0"/>
          </a:p>
        </p:txBody>
      </p:sp>
      <p:sp>
        <p:nvSpPr>
          <p:cNvPr id="94" name="Shape 92"/>
          <p:cNvSpPr/>
          <p:nvPr/>
        </p:nvSpPr>
        <p:spPr>
          <a:xfrm>
            <a:off x="365760" y="3035808"/>
            <a:ext cx="4023360" cy="256032"/>
          </a:xfrm>
          <a:prstGeom prst="rect">
            <a:avLst/>
          </a:prstGeom>
          <a:solidFill>
            <a:srgbClr val="F0A500">
              <a:alpha val="3000"/>
            </a:srgbClr>
          </a:solidFill>
          <a:ln w="3810">
            <a:solidFill>
              <a:srgbClr val="F0A500">
                <a:alpha val="1300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38912" y="3072384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800" dirty="0"/>
          </a:p>
        </p:txBody>
      </p:sp>
      <p:sp>
        <p:nvSpPr>
          <p:cNvPr id="96" name="Text 94"/>
          <p:cNvSpPr/>
          <p:nvPr/>
        </p:nvSpPr>
        <p:spPr>
          <a:xfrm>
            <a:off x="694944" y="307238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reasoning (Claude/Gemini/OpenAI)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2743200" y="307238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Nanopayments</a:t>
            </a:r>
            <a:endParaRPr lang="en-US" sz="750" dirty="0"/>
          </a:p>
        </p:txBody>
      </p:sp>
      <p:sp>
        <p:nvSpPr>
          <p:cNvPr id="98" name="Text 96"/>
          <p:cNvSpPr/>
          <p:nvPr/>
        </p:nvSpPr>
        <p:spPr>
          <a:xfrm>
            <a:off x="3877056" y="307238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$0.001</a:t>
            </a:r>
            <a:endParaRPr lang="en-US" sz="850" dirty="0"/>
          </a:p>
        </p:txBody>
      </p:sp>
      <p:sp>
        <p:nvSpPr>
          <p:cNvPr id="99" name="Shape 97"/>
          <p:cNvSpPr/>
          <p:nvPr/>
        </p:nvSpPr>
        <p:spPr>
          <a:xfrm>
            <a:off x="365760" y="3328416"/>
            <a:ext cx="4023360" cy="256032"/>
          </a:xfrm>
          <a:prstGeom prst="rect">
            <a:avLst/>
          </a:prstGeom>
          <a:solidFill>
            <a:srgbClr val="F0A500">
              <a:alpha val="3000"/>
            </a:srgbClr>
          </a:solidFill>
          <a:ln w="3810">
            <a:solidFill>
              <a:srgbClr val="F0A500">
                <a:alpha val="13000"/>
              </a:srgbClr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38912" y="3364992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694944" y="3364992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 reflection (Gemini 2.5 Pro)</a:t>
            </a:r>
            <a:endParaRPr lang="en-US" sz="850" dirty="0"/>
          </a:p>
        </p:txBody>
      </p:sp>
      <p:sp>
        <p:nvSpPr>
          <p:cNvPr id="102" name="Text 100"/>
          <p:cNvSpPr/>
          <p:nvPr/>
        </p:nvSpPr>
        <p:spPr>
          <a:xfrm>
            <a:off x="2743200" y="3364992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Nanopayments</a:t>
            </a:r>
            <a:endParaRPr lang="en-US" sz="750" dirty="0"/>
          </a:p>
        </p:txBody>
      </p:sp>
      <p:sp>
        <p:nvSpPr>
          <p:cNvPr id="103" name="Text 101"/>
          <p:cNvSpPr/>
          <p:nvPr/>
        </p:nvSpPr>
        <p:spPr>
          <a:xfrm>
            <a:off x="3877056" y="3364992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$0.001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4754880" y="2761488"/>
            <a:ext cx="4023360" cy="237744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105" name="Text 103"/>
          <p:cNvSpPr/>
          <p:nvPr/>
        </p:nvSpPr>
        <p:spPr>
          <a:xfrm>
            <a:off x="4846320" y="277977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04  ·  MICRO-COMMERCE  ·  Circle Wallets + Arc</a:t>
            </a:r>
            <a:endParaRPr lang="en-US" sz="750" dirty="0"/>
          </a:p>
        </p:txBody>
      </p:sp>
      <p:sp>
        <p:nvSpPr>
          <p:cNvPr id="106" name="Shape 104"/>
          <p:cNvSpPr/>
          <p:nvPr/>
        </p:nvSpPr>
        <p:spPr>
          <a:xfrm>
            <a:off x="4754880" y="3035808"/>
            <a:ext cx="4023360" cy="256032"/>
          </a:xfrm>
          <a:prstGeom prst="rect">
            <a:avLst/>
          </a:prstGeom>
          <a:solidFill>
            <a:srgbClr val="00E5A0">
              <a:alpha val="3000"/>
            </a:srgbClr>
          </a:solidFill>
          <a:ln w="3810">
            <a:solidFill>
              <a:srgbClr val="00E5A0">
                <a:alpha val="13000"/>
              </a:srgbClr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828032" y="3072384"/>
            <a:ext cx="219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800" dirty="0"/>
          </a:p>
        </p:txBody>
      </p:sp>
      <p:sp>
        <p:nvSpPr>
          <p:cNvPr id="108" name="Text 106"/>
          <p:cNvSpPr/>
          <p:nvPr/>
        </p:nvSpPr>
        <p:spPr>
          <a:xfrm>
            <a:off x="5084064" y="3072384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settlement in USDC on Arc</a:t>
            </a:r>
            <a:endParaRPr lang="en-US" sz="850" dirty="0"/>
          </a:p>
        </p:txBody>
      </p:sp>
      <p:sp>
        <p:nvSpPr>
          <p:cNvPr id="109" name="Text 107"/>
          <p:cNvSpPr/>
          <p:nvPr/>
        </p:nvSpPr>
        <p:spPr>
          <a:xfrm>
            <a:off x="7132320" y="307238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Wallets</a:t>
            </a:r>
            <a:endParaRPr lang="en-US" sz="750" dirty="0"/>
          </a:p>
        </p:txBody>
      </p:sp>
      <p:sp>
        <p:nvSpPr>
          <p:cNvPr id="110" name="Text 108"/>
          <p:cNvSpPr/>
          <p:nvPr/>
        </p:nvSpPr>
        <p:spPr>
          <a:xfrm>
            <a:off x="8266176" y="3072384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365760" y="3730752"/>
            <a:ext cx="8412480" cy="566928"/>
          </a:xfrm>
          <a:prstGeom prst="rect">
            <a:avLst/>
          </a:prstGeom>
          <a:solidFill>
            <a:srgbClr val="00E5A0">
              <a:alpha val="5000"/>
            </a:srgbClr>
          </a:solidFill>
          <a:ln w="5080">
            <a:solidFill>
              <a:srgbClr val="00E5A0">
                <a:alpha val="20000"/>
              </a:srgbClr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548640" y="3785616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cycle: </a:t>
            </a:r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$0.110 avg data (x402)  +  $0.007 governance (Nanopayments)  +  $0.002 compute (Nanopayments)  +  trade settlement  ·  </a:t>
            </a:r>
            <a:pPr indent="0" marL="0">
              <a:lnSpc>
                <a:spcPct val="140000"/>
              </a:lnSpc>
              <a:buNone/>
            </a:pPr>
            <a:r>
              <a:rPr lang="en-US" sz="9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cycles → 130+ Arc transactions  ·  50+ requirement cleared in 5 cycles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PLATFORM — FULL STACK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54864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Circle products. One coherent architecture.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65760" y="1051560"/>
            <a:ext cx="4114800" cy="987552"/>
          </a:xfrm>
          <a:prstGeom prst="rect">
            <a:avLst/>
          </a:prstGeom>
          <a:solidFill>
            <a:srgbClr val="00E5A0">
              <a:alpha val="5000"/>
            </a:srgbClr>
          </a:solidFill>
          <a:ln w="6350">
            <a:solidFill>
              <a:srgbClr val="00E5A0">
                <a:alpha val="27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112471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75488" y="136245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settlement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75488" y="1527048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Nanopayment batch, x402 data payment, and trade settles on Arc. USDC as native gas eliminates gas token volatility. Sub-second Malachite BFT finality means governance receipts are final before the next stage fires.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" y="2212848"/>
            <a:ext cx="4114800" cy="987552"/>
          </a:xfrm>
          <a:prstGeom prst="rect">
            <a:avLst/>
          </a:prstGeom>
          <a:solidFill>
            <a:srgbClr val="2775CA">
              <a:alpha val="5000"/>
            </a:srgbClr>
          </a:solidFill>
          <a:ln w="6350">
            <a:solidFill>
              <a:srgbClr val="2775CA">
                <a:alpha val="27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488" y="22860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7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75488" y="252374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of account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75488" y="2688336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payment event denominated in USDC. Governance billing, data payments, compute billing, and trade settlement all in the same currency. No token conversion, no price volatility risk, no exchange overhead.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663440" y="1051560"/>
            <a:ext cx="4114800" cy="987552"/>
          </a:xfrm>
          <a:prstGeom prst="rect">
            <a:avLst/>
          </a:prstGeom>
          <a:solidFill>
            <a:srgbClr val="6C63FF">
              <a:alpha val="5000"/>
            </a:srgbClr>
          </a:solidFill>
          <a:ln w="6350">
            <a:solidFill>
              <a:srgbClr val="6C63FF">
                <a:alpha val="27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73168" y="112471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Nanopayments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773168" y="136245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Governance + compute billing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4773168" y="1527048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Batched EIP-3009 settlement enables $0.001 payments that would cost $2–20 in gas on other chains. Instant confirmation returns a txHash before the governance stage result — real-time billing without settlement latency.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4663440" y="2212848"/>
            <a:ext cx="4114800" cy="987552"/>
          </a:xfrm>
          <a:prstGeom prst="rect">
            <a:avLst/>
          </a:prstGeom>
          <a:solidFill>
            <a:srgbClr val="F0A500">
              <a:alpha val="5000"/>
            </a:srgbClr>
          </a:solidFill>
          <a:ln w="6350">
            <a:solidFill>
              <a:srgbClr val="F0A500">
                <a:alpha val="27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73168" y="2286000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Wallets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4773168" y="2523744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identity + signing</a:t>
            </a:r>
            <a:endParaRPr lang="en-US" sz="850" dirty="0"/>
          </a:p>
        </p:txBody>
      </p:sp>
      <p:sp>
        <p:nvSpPr>
          <p:cNvPr id="53" name="Text 51"/>
          <p:cNvSpPr/>
          <p:nvPr/>
        </p:nvSpPr>
        <p:spPr>
          <a:xfrm>
            <a:off x="4773168" y="2688336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MPC-based programmatic signing replaces raw EOA key management. EIP-1271 compatible — works with existing governance contracts. No private key exposure, no single point of failure. The correct architecture for an autonomous agent.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2514600" y="3200400"/>
            <a:ext cx="4114800" cy="987552"/>
          </a:xfrm>
          <a:prstGeom prst="rect">
            <a:avLst/>
          </a:prstGeom>
          <a:solidFill>
            <a:srgbClr val="8884AA">
              <a:alpha val="5000"/>
            </a:srgbClr>
          </a:solidFill>
          <a:ln w="6350">
            <a:solidFill>
              <a:srgbClr val="8884AA">
                <a:alpha val="27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624328" y="3273552"/>
            <a:ext cx="1371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Gateway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2624328" y="3511296"/>
            <a:ext cx="3840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data payment batching</a:t>
            </a:r>
            <a:endParaRPr lang="en-US" sz="850" dirty="0"/>
          </a:p>
        </p:txBody>
      </p:sp>
      <p:sp>
        <p:nvSpPr>
          <p:cNvPr id="57" name="Text 55"/>
          <p:cNvSpPr/>
          <p:nvPr/>
        </p:nvSpPr>
        <p:spPr>
          <a:xfrm>
            <a:off x="2624328" y="3675888"/>
            <a:ext cx="38587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data API payments via AIsa's 79-endpoint catalog batch and settle on Arc. GatewayEvmScheme handles the custom EIP-712 domain correctly. 5 data pulls per cycle settle as one Arc transaction.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TRACK RECORD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54864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890+ cycles executed before the hackathon started.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457200" y="96012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Kairos is built on Actura — a live governed trading agent on Ethereum Sepolia. The Arc migration adds the Circle payment layer. The governance system is unchanged.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65760" y="1463040"/>
            <a:ext cx="2560320" cy="804672"/>
          </a:xfrm>
          <a:prstGeom prst="rect">
            <a:avLst/>
          </a:prstGeom>
          <a:solidFill>
            <a:srgbClr val="6C63FF">
              <a:alpha val="5000"/>
            </a:srgbClr>
          </a:solidFill>
          <a:ln w="6350">
            <a:solidFill>
              <a:srgbClr val="6C63FF">
                <a:alpha val="2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151790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-50" kern="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890+</a:t>
            </a:r>
            <a:endParaRPr lang="en-US" sz="2600" dirty="0"/>
          </a:p>
        </p:txBody>
      </p:sp>
      <p:sp>
        <p:nvSpPr>
          <p:cNvPr id="41" name="Text 39"/>
          <p:cNvSpPr/>
          <p:nvPr/>
        </p:nvSpPr>
        <p:spPr>
          <a:xfrm>
            <a:off x="365760" y="195681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Trading cycles executed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200400" y="1463040"/>
            <a:ext cx="2560320" cy="804672"/>
          </a:xfrm>
          <a:prstGeom prst="rect">
            <a:avLst/>
          </a:prstGeom>
          <a:solidFill>
            <a:srgbClr val="00E5A0">
              <a:alpha val="5000"/>
            </a:srgbClr>
          </a:solidFill>
          <a:ln w="6350">
            <a:solidFill>
              <a:srgbClr val="00E5A0">
                <a:alpha val="2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0" y="151790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-50" kern="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3200400" y="195681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Trust tier (top 5%)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6035040" y="1463040"/>
            <a:ext cx="2560320" cy="804672"/>
          </a:xfrm>
          <a:prstGeom prst="rect">
            <a:avLst/>
          </a:prstGeom>
          <a:solidFill>
            <a:srgbClr val="F0A500">
              <a:alpha val="5000"/>
            </a:srgbClr>
          </a:solidFill>
          <a:ln w="6350">
            <a:solidFill>
              <a:srgbClr val="F0A500">
                <a:alpha val="2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35040" y="151790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-50" kern="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4/48</a:t>
            </a:r>
            <a:endParaRPr lang="en-US" sz="2600" dirty="0"/>
          </a:p>
        </p:txBody>
      </p:sp>
      <p:sp>
        <p:nvSpPr>
          <p:cNvPr id="47" name="Text 45"/>
          <p:cNvSpPr/>
          <p:nvPr/>
        </p:nvSpPr>
        <p:spPr>
          <a:xfrm>
            <a:off x="6035040" y="195681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Reputation rank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365760" y="2468880"/>
            <a:ext cx="2560320" cy="804672"/>
          </a:xfrm>
          <a:prstGeom prst="rect">
            <a:avLst/>
          </a:prstGeom>
          <a:solidFill>
            <a:srgbClr val="2775CA">
              <a:alpha val="5000"/>
            </a:srgbClr>
          </a:solidFill>
          <a:ln w="6350">
            <a:solidFill>
              <a:srgbClr val="2775CA">
                <a:alpha val="2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252374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-50" kern="0" dirty="0">
                <a:solidFill>
                  <a:srgbClr val="277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</a:t>
            </a:r>
            <a:endParaRPr lang="en-US" sz="2600" dirty="0"/>
          </a:p>
        </p:txBody>
      </p:sp>
      <p:sp>
        <p:nvSpPr>
          <p:cNvPr id="50" name="Text 48"/>
          <p:cNvSpPr/>
          <p:nvPr/>
        </p:nvSpPr>
        <p:spPr>
          <a:xfrm>
            <a:off x="365760" y="296265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IPFS-pinned artifacts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200400" y="2468880"/>
            <a:ext cx="2560320" cy="804672"/>
          </a:xfrm>
          <a:prstGeom prst="rect">
            <a:avLst/>
          </a:prstGeom>
          <a:solidFill>
            <a:srgbClr val="00E5A0">
              <a:alpha val="5000"/>
            </a:srgbClr>
          </a:solidFill>
          <a:ln w="6350">
            <a:solidFill>
              <a:srgbClr val="00E5A0">
                <a:alpha val="2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00400" y="252374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-50" kern="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99/99</a:t>
            </a:r>
            <a:endParaRPr lang="en-US" sz="2600" dirty="0"/>
          </a:p>
        </p:txBody>
      </p:sp>
      <p:sp>
        <p:nvSpPr>
          <p:cNvPr id="53" name="Text 51"/>
          <p:cNvSpPr/>
          <p:nvPr/>
        </p:nvSpPr>
        <p:spPr>
          <a:xfrm>
            <a:off x="3200400" y="296265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/ Reputation scores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6035040" y="2468880"/>
            <a:ext cx="2560320" cy="804672"/>
          </a:xfrm>
          <a:prstGeom prst="rect">
            <a:avLst/>
          </a:prstGeom>
          <a:solidFill>
            <a:srgbClr val="6C63FF">
              <a:alpha val="5000"/>
            </a:srgbClr>
          </a:solidFill>
          <a:ln w="6350">
            <a:solidFill>
              <a:srgbClr val="6C63FF">
                <a:alpha val="2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35040" y="2523744"/>
            <a:ext cx="25603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spc="-50" kern="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2600" dirty="0"/>
          </a:p>
        </p:txBody>
      </p:sp>
      <p:sp>
        <p:nvSpPr>
          <p:cNvPr id="56" name="Text 54"/>
          <p:cNvSpPr/>
          <p:nvPr/>
        </p:nvSpPr>
        <p:spPr>
          <a:xfrm>
            <a:off x="6035040" y="296265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suites — all passing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65760" y="3547872"/>
            <a:ext cx="8412480" cy="566928"/>
          </a:xfrm>
          <a:prstGeom prst="rect">
            <a:avLst/>
          </a:prstGeom>
          <a:solidFill>
            <a:srgbClr val="F0A500">
              <a:alpha val="4000"/>
            </a:srgbClr>
          </a:solidFill>
          <a:ln w="5080">
            <a:solidFill>
              <a:srgbClr val="F0A500">
                <a:alpha val="2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48640" y="3621024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85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Unchanged from Actura:  SURGE v2 cryptographic receipt chain  ·  Ed25519 + SHA-256 Merkle-chained receipts  ·  TEE attestation on IPFS  ·  EU AI Act / NIST / ISO 42001 compliance mapping  ·  3-tier LLM failover  ·  SAGE adaptive learning  ·  12-tool MCP server  ·  Circuit breaker + kill switch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ORIGINALITY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548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pays for its own governance.</a:t>
            </a:r>
            <a:endParaRPr lang="en-US" sz="22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220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 is a new economic primitive.</a:t>
            </a:r>
            <a:endParaRPr lang="en-US" sz="2200" dirty="0"/>
          </a:p>
        </p:txBody>
      </p:sp>
      <p:sp>
        <p:nvSpPr>
          <p:cNvPr id="38" name="Shape 36"/>
          <p:cNvSpPr/>
          <p:nvPr/>
        </p:nvSpPr>
        <p:spPr>
          <a:xfrm>
            <a:off x="365760" y="1371600"/>
            <a:ext cx="4114800" cy="237744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13898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F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submissions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371600"/>
            <a:ext cx="4114800" cy="237744"/>
          </a:xfrm>
          <a:prstGeom prst="rect">
            <a:avLst/>
          </a:prstGeom>
          <a:solidFill>
            <a:srgbClr val="00E5A0">
              <a:alpha val="13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13898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Kairos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65760" y="1828800"/>
            <a:ext cx="4114800" cy="347472"/>
          </a:xfrm>
          <a:prstGeom prst="rect">
            <a:avLst/>
          </a:prstGeom>
          <a:solidFill>
            <a:srgbClr val="00000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188366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bolted on as a feature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663440" y="1828800"/>
            <a:ext cx="4114800" cy="347472"/>
          </a:xfrm>
          <a:prstGeom prst="rect">
            <a:avLst/>
          </a:prstGeom>
          <a:solidFill>
            <a:srgbClr val="00E5A0">
              <a:alpha val="3000"/>
            </a:srgbClr>
          </a:solidFill>
          <a:ln w="3810">
            <a:solidFill>
              <a:srgbClr val="00E5A0">
                <a:alpha val="2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54880" y="188366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is the governance mechanism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517136" y="2002536"/>
            <a:ext cx="109728" cy="0"/>
          </a:xfrm>
          <a:prstGeom prst="line">
            <a:avLst/>
          </a:prstGeom>
          <a:noFill/>
          <a:ln w="12700">
            <a:solidFill>
              <a:srgbClr val="6C63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2267712"/>
            <a:ext cx="4114800" cy="347472"/>
          </a:xfrm>
          <a:prstGeom prst="rect">
            <a:avLst/>
          </a:prstGeom>
          <a:solidFill>
            <a:srgbClr val="00000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23225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Demonstrates x402 works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63440" y="2267712"/>
            <a:ext cx="4114800" cy="347472"/>
          </a:xfrm>
          <a:prstGeom prst="rect">
            <a:avLst/>
          </a:prstGeom>
          <a:solidFill>
            <a:srgbClr val="00E5A0">
              <a:alpha val="3000"/>
            </a:srgbClr>
          </a:solidFill>
          <a:ln w="3810">
            <a:solidFill>
              <a:srgbClr val="00E5A0">
                <a:alpha val="2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754880" y="2322576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Demonstrates a new economic model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17136" y="2441448"/>
            <a:ext cx="109728" cy="0"/>
          </a:xfrm>
          <a:prstGeom prst="line">
            <a:avLst/>
          </a:prstGeom>
          <a:noFill/>
          <a:ln w="12700">
            <a:solidFill>
              <a:srgbClr val="6C63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65760" y="2706624"/>
            <a:ext cx="4114800" cy="347472"/>
          </a:xfrm>
          <a:prstGeom prst="rect">
            <a:avLst/>
          </a:prstGeom>
          <a:solidFill>
            <a:srgbClr val="00000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27614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Picks one hackathon track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663440" y="2706624"/>
            <a:ext cx="4114800" cy="347472"/>
          </a:xfrm>
          <a:prstGeom prst="rect">
            <a:avLst/>
          </a:prstGeom>
          <a:solidFill>
            <a:srgbClr val="00E5A0">
              <a:alpha val="3000"/>
            </a:srgbClr>
          </a:solidFill>
          <a:ln w="3810">
            <a:solidFill>
              <a:srgbClr val="00E5A0">
                <a:alpha val="2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754880" y="2761488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four tracks fire in every cycle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517136" y="2880360"/>
            <a:ext cx="109728" cy="0"/>
          </a:xfrm>
          <a:prstGeom prst="line">
            <a:avLst/>
          </a:prstGeom>
          <a:noFill/>
          <a:ln w="12700">
            <a:solidFill>
              <a:srgbClr val="6C63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65760" y="3145536"/>
            <a:ext cx="4114800" cy="347472"/>
          </a:xfrm>
          <a:prstGeom prst="rect">
            <a:avLst/>
          </a:prstGeom>
          <a:solidFill>
            <a:srgbClr val="00000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32004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built in 7 days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663440" y="3145536"/>
            <a:ext cx="4114800" cy="347472"/>
          </a:xfrm>
          <a:prstGeom prst="rect">
            <a:avLst/>
          </a:prstGeom>
          <a:solidFill>
            <a:srgbClr val="00E5A0">
              <a:alpha val="3000"/>
            </a:srgbClr>
          </a:solidFill>
          <a:ln w="3810">
            <a:solidFill>
              <a:srgbClr val="00E5A0">
                <a:alpha val="2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54880" y="3200400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890+ cycle production system migrated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4517136" y="3319272"/>
            <a:ext cx="109728" cy="0"/>
          </a:xfrm>
          <a:prstGeom prst="line">
            <a:avLst/>
          </a:prstGeom>
          <a:noFill/>
          <a:ln w="12700">
            <a:solidFill>
              <a:srgbClr val="6C63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5760" y="3584448"/>
            <a:ext cx="4114800" cy="347472"/>
          </a:xfrm>
          <a:prstGeom prst="rect">
            <a:avLst/>
          </a:prstGeom>
          <a:solidFill>
            <a:srgbClr val="00000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57200" y="363931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pays for services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4663440" y="3584448"/>
            <a:ext cx="4114800" cy="347472"/>
          </a:xfrm>
          <a:prstGeom prst="rect">
            <a:avLst/>
          </a:prstGeom>
          <a:solidFill>
            <a:srgbClr val="00E5A0">
              <a:alpha val="3000"/>
            </a:srgbClr>
          </a:solidFill>
          <a:ln w="3810">
            <a:solidFill>
              <a:srgbClr val="00E5A0">
                <a:alpha val="20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54880" y="3639312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pays for its own oversight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517136" y="3758184"/>
            <a:ext cx="109728" cy="0"/>
          </a:xfrm>
          <a:prstGeom prst="line">
            <a:avLst/>
          </a:prstGeom>
          <a:noFill/>
          <a:ln w="12700">
            <a:solidFill>
              <a:srgbClr val="6C63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65760" y="4023360"/>
            <a:ext cx="4114800" cy="347472"/>
          </a:xfrm>
          <a:prstGeom prst="rect">
            <a:avLst/>
          </a:prstGeom>
          <a:solidFill>
            <a:srgbClr val="000000"/>
          </a:solidFill>
          <a:ln w="3810">
            <a:solidFill>
              <a:srgbClr val="00000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57200" y="407822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9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as the settlement layer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4663440" y="4023360"/>
            <a:ext cx="4114800" cy="347472"/>
          </a:xfrm>
          <a:prstGeom prst="rect">
            <a:avLst/>
          </a:prstGeom>
          <a:solidFill>
            <a:srgbClr val="00E5A0">
              <a:alpha val="3000"/>
            </a:srgbClr>
          </a:solidFill>
          <a:ln w="3810">
            <a:solidFill>
              <a:srgbClr val="00E5A0">
                <a:alpha val="2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754880" y="4078224"/>
            <a:ext cx="3931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as the economic prerequisite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4517136" y="4197096"/>
            <a:ext cx="109728" cy="0"/>
          </a:xfrm>
          <a:prstGeom prst="line">
            <a:avLst/>
          </a:prstGeom>
          <a:noFill/>
          <a:ln w="12700">
            <a:solidFill>
              <a:srgbClr val="6C63FF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2775CA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277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VALUE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54864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 infrastructure for the agentic economy.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65760" y="1078992"/>
            <a:ext cx="4114800" cy="1389888"/>
          </a:xfrm>
          <a:prstGeom prst="rect">
            <a:avLst/>
          </a:prstGeom>
          <a:solidFill>
            <a:srgbClr val="6C63FF">
              <a:alpha val="5000"/>
            </a:srgbClr>
          </a:solidFill>
          <a:ln w="6350">
            <a:solidFill>
              <a:srgbClr val="6C63FF">
                <a:alpha val="27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1078992"/>
            <a:ext cx="36576" cy="1389888"/>
          </a:xfrm>
          <a:prstGeom prst="rect">
            <a:avLst/>
          </a:prstGeom>
          <a:solidFill>
            <a:srgbClr val="6C63FF"/>
          </a:solidFill>
          <a:ln/>
        </p:spPr>
      </p:sp>
      <p:sp>
        <p:nvSpPr>
          <p:cNvPr id="40" name="Text 38"/>
          <p:cNvSpPr/>
          <p:nvPr/>
        </p:nvSpPr>
        <p:spPr>
          <a:xfrm>
            <a:off x="512064" y="11704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Regulated finance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12064" y="14630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governed trade has a SURGE v2 cryptographic receipt — immutable proof of pre-execution governance. EU AI Act Article 9 requires risk management systems for high-risk AI. Kairos makes compliance structural, not procedural.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1078992"/>
            <a:ext cx="4114800" cy="1389888"/>
          </a:xfrm>
          <a:prstGeom prst="rect">
            <a:avLst/>
          </a:prstGeom>
          <a:solidFill>
            <a:srgbClr val="2775CA">
              <a:alpha val="5000"/>
            </a:srgbClr>
          </a:solidFill>
          <a:ln w="6350">
            <a:solidFill>
              <a:srgbClr val="2775CA">
                <a:alpha val="27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663440" y="1078992"/>
            <a:ext cx="36576" cy="1389888"/>
          </a:xfrm>
          <a:prstGeom prst="rect">
            <a:avLst/>
          </a:prstGeom>
          <a:solidFill>
            <a:srgbClr val="2775CA"/>
          </a:solidFill>
          <a:ln/>
        </p:spPr>
      </p:sp>
      <p:sp>
        <p:nvSpPr>
          <p:cNvPr id="44" name="Text 42"/>
          <p:cNvSpPr/>
          <p:nvPr/>
        </p:nvSpPr>
        <p:spPr>
          <a:xfrm>
            <a:off x="4809744" y="117043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7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Agentic API economy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809744" y="146304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API that charges per call can become a governed resource. The x402 + Circle Gateway pattern means AI agents discover, pay, and consume data APIs without API keys, subscriptions, or human approval — at any scale.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65760" y="2670048"/>
            <a:ext cx="4114800" cy="1389888"/>
          </a:xfrm>
          <a:prstGeom prst="rect">
            <a:avLst/>
          </a:prstGeom>
          <a:solidFill>
            <a:srgbClr val="F0A500">
              <a:alpha val="5000"/>
            </a:srgbClr>
          </a:solidFill>
          <a:ln w="6350">
            <a:solidFill>
              <a:srgbClr val="F0A500">
                <a:alpha val="27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365760" y="2670048"/>
            <a:ext cx="36576" cy="1389888"/>
          </a:xfrm>
          <a:prstGeom prst="rect">
            <a:avLst/>
          </a:prstGeom>
          <a:solidFill>
            <a:srgbClr val="F0A500"/>
          </a:solidFill>
          <a:ln/>
        </p:spPr>
      </p:sp>
      <p:sp>
        <p:nvSpPr>
          <p:cNvPr id="48" name="Text 46"/>
          <p:cNvSpPr/>
          <p:nvPr/>
        </p:nvSpPr>
        <p:spPr>
          <a:xfrm>
            <a:off x="512064" y="27614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 infrastructure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512064" y="3054096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NOVTIA Runtime Governor is not an Actura-specific product. It is a governance primitive that any autonomous agent can use. Kairos demonstrates the first production deployment of agent-pays-for-governance.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663440" y="2670048"/>
            <a:ext cx="4114800" cy="1389888"/>
          </a:xfrm>
          <a:prstGeom prst="rect">
            <a:avLst/>
          </a:prstGeom>
          <a:solidFill>
            <a:srgbClr val="00E5A0">
              <a:alpha val="5000"/>
            </a:srgbClr>
          </a:solidFill>
          <a:ln w="6350">
            <a:solidFill>
              <a:srgbClr val="00E5A0">
                <a:alpha val="27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663440" y="2670048"/>
            <a:ext cx="36576" cy="1389888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52" name="Text 50"/>
          <p:cNvSpPr/>
          <p:nvPr/>
        </p:nvSpPr>
        <p:spPr>
          <a:xfrm>
            <a:off x="4809744" y="276148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platform adoption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809744" y="3054096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5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Kairos demonstrates the full Circle developer stack in a single coherent production system. Every enterprise deploying autonomous trading agents will need this architecture — the economic model is not optional, it is the safety layer.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0"/>
            <a:ext cx="36576" cy="5143500"/>
          </a:xfrm>
          <a:prstGeom prst="rect">
            <a:avLst/>
          </a:prstGeom>
          <a:solidFill>
            <a:srgbClr val="00E5A0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" y="274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PROOF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7200" y="548640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all four tracks fire in 10 seconds.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65760" y="1051560"/>
            <a:ext cx="512064" cy="384048"/>
          </a:xfrm>
          <a:prstGeom prst="rect">
            <a:avLst/>
          </a:prstGeom>
          <a:solidFill>
            <a:srgbClr val="2775CA">
              <a:alpha val="13000"/>
            </a:srgbClr>
          </a:solidFill>
          <a:ln w="5080">
            <a:solidFill>
              <a:srgbClr val="2775CA">
                <a:alpha val="33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1124712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75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05840" y="1088136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AIsa x402 data pulls fire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1005840" y="1271016"/>
            <a:ext cx="7680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2 panel fills — x402 badges, real Arc tx hashes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1005840" y="1435608"/>
            <a:ext cx="7680960" cy="0"/>
          </a:xfrm>
          <a:prstGeom prst="line">
            <a:avLst/>
          </a:prstGeom>
          <a:noFill/>
          <a:ln w="3810">
            <a:solidFill>
              <a:srgbClr val="1A1A3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65760" y="1563624"/>
            <a:ext cx="512064" cy="384048"/>
          </a:xfrm>
          <a:prstGeom prst="rect">
            <a:avLst/>
          </a:prstGeom>
          <a:solidFill>
            <a:srgbClr val="6C63FF">
              <a:alpha val="13000"/>
            </a:srgbClr>
          </a:solidFill>
          <a:ln w="5080">
            <a:solidFill>
              <a:srgbClr val="6C63FF">
                <a:alpha val="33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1636776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005840" y="160020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Mandate stage fires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1005840" y="1783080"/>
            <a:ext cx="7680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Nanopayment confirmed — stage bar fills, NANO badge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1005840" y="1947672"/>
            <a:ext cx="7680960" cy="0"/>
          </a:xfrm>
          <a:prstGeom prst="line">
            <a:avLst/>
          </a:prstGeom>
          <a:noFill/>
          <a:ln w="3810">
            <a:solidFill>
              <a:srgbClr val="1A1A3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65760" y="2075688"/>
            <a:ext cx="512064" cy="384048"/>
          </a:xfrm>
          <a:prstGeom prst="rect">
            <a:avLst/>
          </a:prstGeom>
          <a:solidFill>
            <a:srgbClr val="6C63FF">
              <a:alpha val="13000"/>
            </a:srgbClr>
          </a:solidFill>
          <a:ln w="5080">
            <a:solidFill>
              <a:srgbClr val="6C63FF">
                <a:alpha val="33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2148840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05840" y="211226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→ Sim → Supervisory → Risk Router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1005840" y="2295144"/>
            <a:ext cx="7680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more Nanopayments — all 5 governance stages complete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1005840" y="2459736"/>
            <a:ext cx="7680960" cy="0"/>
          </a:xfrm>
          <a:prstGeom prst="line">
            <a:avLst/>
          </a:prstGeom>
          <a:noFill/>
          <a:ln w="3810">
            <a:solidFill>
              <a:srgbClr val="1A1A3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65760" y="2587752"/>
            <a:ext cx="512064" cy="384048"/>
          </a:xfrm>
          <a:prstGeom prst="rect">
            <a:avLst/>
          </a:prstGeom>
          <a:solidFill>
            <a:srgbClr val="F0A500">
              <a:alpha val="13000"/>
            </a:srgbClr>
          </a:solidFill>
          <a:ln w="5080">
            <a:solidFill>
              <a:srgbClr val="F0A500">
                <a:alpha val="33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65760" y="2660904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05840" y="262432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reasoning fires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005840" y="2807208"/>
            <a:ext cx="7680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inference Nanopayment — Track 3 panel appears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1005840" y="2971800"/>
            <a:ext cx="7680960" cy="0"/>
          </a:xfrm>
          <a:prstGeom prst="line">
            <a:avLst/>
          </a:prstGeom>
          <a:noFill/>
          <a:ln w="3810">
            <a:solidFill>
              <a:srgbClr val="1A1A3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65760" y="3099816"/>
            <a:ext cx="512064" cy="384048"/>
          </a:xfrm>
          <a:prstGeom prst="rect">
            <a:avLst/>
          </a:prstGeom>
          <a:solidFill>
            <a:srgbClr val="F0A500">
              <a:alpha val="13000"/>
            </a:srgbClr>
          </a:solidFill>
          <a:ln w="5080">
            <a:solidFill>
              <a:srgbClr val="F0A500">
                <a:alpha val="33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3172968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07s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005840" y="313639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SAGE reflection fires</a:t>
            </a:r>
            <a:endParaRPr lang="en-US" sz="950" dirty="0"/>
          </a:p>
        </p:txBody>
      </p:sp>
      <p:sp>
        <p:nvSpPr>
          <p:cNvPr id="61" name="Text 59"/>
          <p:cNvSpPr/>
          <p:nvPr/>
        </p:nvSpPr>
        <p:spPr>
          <a:xfrm>
            <a:off x="1005840" y="3319272"/>
            <a:ext cx="7680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Pro reflection Nanopayment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1005840" y="3483864"/>
            <a:ext cx="7680960" cy="0"/>
          </a:xfrm>
          <a:prstGeom prst="line">
            <a:avLst/>
          </a:prstGeom>
          <a:noFill/>
          <a:ln w="3810">
            <a:solidFill>
              <a:srgbClr val="1A1A3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365760" y="3611880"/>
            <a:ext cx="512064" cy="384048"/>
          </a:xfrm>
          <a:prstGeom prst="rect">
            <a:avLst/>
          </a:prstGeom>
          <a:solidFill>
            <a:srgbClr val="00E5A0">
              <a:alpha val="13000"/>
            </a:srgbClr>
          </a:solidFill>
          <a:ln w="5080">
            <a:solidFill>
              <a:srgbClr val="00E5A0">
                <a:alpha val="33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65760" y="3685032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1005840" y="3648456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 settlement on Arc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1005840" y="3831336"/>
            <a:ext cx="7680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Wallets → Arc → Track 4 panel shows USDC settled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1005840" y="3995928"/>
            <a:ext cx="7680960" cy="0"/>
          </a:xfrm>
          <a:prstGeom prst="line">
            <a:avLst/>
          </a:prstGeom>
          <a:noFill/>
          <a:ln w="3810">
            <a:solidFill>
              <a:srgbClr val="1A1A3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365760" y="4123944"/>
            <a:ext cx="512064" cy="384048"/>
          </a:xfrm>
          <a:prstGeom prst="rect">
            <a:avLst/>
          </a:prstGeom>
          <a:solidFill>
            <a:srgbClr val="00E5A0">
              <a:alpha val="13000"/>
            </a:srgbClr>
          </a:solidFill>
          <a:ln w="5080">
            <a:solidFill>
              <a:srgbClr val="00E5A0">
                <a:alpha val="33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365760" y="4197096"/>
            <a:ext cx="512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10s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005840" y="416052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 txn counter increments</a:t>
            </a:r>
            <a:endParaRPr lang="en-US" sz="950" dirty="0"/>
          </a:p>
        </p:txBody>
      </p:sp>
      <p:sp>
        <p:nvSpPr>
          <p:cNvPr id="71" name="Text 69"/>
          <p:cNvSpPr/>
          <p:nvPr/>
        </p:nvSpPr>
        <p:spPr>
          <a:xfrm>
            <a:off x="1005840" y="4343400"/>
            <a:ext cx="768096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payment events — Moment Bar progress bar advances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005840" y="4507992"/>
            <a:ext cx="7680960" cy="0"/>
          </a:xfrm>
          <a:prstGeom prst="line">
            <a:avLst/>
          </a:prstGeom>
          <a:noFill/>
          <a:ln w="3810">
            <a:solidFill>
              <a:srgbClr val="1A1A3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65760" y="4645152"/>
            <a:ext cx="8412480" cy="420624"/>
          </a:xfrm>
          <a:prstGeom prst="rect">
            <a:avLst/>
          </a:prstGeom>
          <a:solidFill>
            <a:srgbClr val="F0A500">
              <a:alpha val="7000"/>
            </a:srgbClr>
          </a:solidFill>
          <a:ln w="5080">
            <a:solidFill>
              <a:srgbClr val="F0A500">
                <a:alpha val="27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48640" y="4718304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F0A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video shows: Circle Developer Console transaction  ·  Arc block explorer (testnet.arcscan.app) verification  ·  /kairos live dashboard with all 4 tracks firing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50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6350">
            <a:solidFill>
              <a:srgbClr val="1A1A30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ln/>
        </p:spPr>
      </p:sp>
      <p:sp>
        <p:nvSpPr>
          <p:cNvPr id="36" name="Shape 34"/>
          <p:cNvSpPr/>
          <p:nvPr/>
        </p:nvSpPr>
        <p:spPr>
          <a:xfrm>
            <a:off x="5486400" y="914400"/>
            <a:ext cx="4572000" cy="4572000"/>
          </a:xfrm>
          <a:prstGeom prst="ellipse">
            <a:avLst/>
          </a:prstGeom>
          <a:ln/>
        </p:spPr>
      </p:sp>
      <p:sp>
        <p:nvSpPr>
          <p:cNvPr id="37" name="Text 35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spc="-300" kern="0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KAIROS</a:t>
            </a:r>
            <a:endParaRPr lang="en-US" sz="7200" dirty="0"/>
          </a:p>
        </p:txBody>
      </p:sp>
      <p:sp>
        <p:nvSpPr>
          <p:cNvPr id="38" name="Shape 36"/>
          <p:cNvSpPr/>
          <p:nvPr/>
        </p:nvSpPr>
        <p:spPr>
          <a:xfrm>
            <a:off x="3200400" y="1755648"/>
            <a:ext cx="2743200" cy="36576"/>
          </a:xfrm>
          <a:prstGeom prst="rect">
            <a:avLst/>
          </a:prstGeom>
          <a:ln/>
        </p:spPr>
      </p:sp>
      <p:sp>
        <p:nvSpPr>
          <p:cNvPr id="39" name="Text 37"/>
          <p:cNvSpPr/>
          <p:nvPr/>
        </p:nvSpPr>
        <p:spPr>
          <a:xfrm>
            <a:off x="457200" y="1901952"/>
            <a:ext cx="8229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84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governed moment every trade earns its execution.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22960" y="2487168"/>
            <a:ext cx="1645920" cy="768096"/>
          </a:xfrm>
          <a:prstGeom prst="rect">
            <a:avLst/>
          </a:prstGeom>
          <a:solidFill>
            <a:srgbClr val="6C63FF">
              <a:alpha val="5000"/>
            </a:srgbClr>
          </a:solidFill>
          <a:ln w="5080">
            <a:solidFill>
              <a:srgbClr val="6C63FF">
                <a:alpha val="2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254203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890+ cycles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22960" y="28346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before the hackathon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43200" y="2487168"/>
            <a:ext cx="1645920" cy="768096"/>
          </a:xfrm>
          <a:prstGeom prst="rect">
            <a:avLst/>
          </a:prstGeom>
          <a:solidFill>
            <a:srgbClr val="6C63FF">
              <a:alpha val="5000"/>
            </a:srgbClr>
          </a:solidFill>
          <a:ln w="5080">
            <a:solidFill>
              <a:srgbClr val="6C63FF">
                <a:alpha val="2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743200" y="254203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4 tracks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2743200" y="28346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cycle, simultaneously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663440" y="2487168"/>
            <a:ext cx="1645920" cy="768096"/>
          </a:xfrm>
          <a:prstGeom prst="rect">
            <a:avLst/>
          </a:prstGeom>
          <a:solidFill>
            <a:srgbClr val="6C63FF">
              <a:alpha val="5000"/>
            </a:srgbClr>
          </a:solidFill>
          <a:ln w="5080">
            <a:solidFill>
              <a:srgbClr val="6C63FF">
                <a:alpha val="2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254203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Circle products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4663440" y="28346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stack, one system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6583680" y="2487168"/>
            <a:ext cx="1645920" cy="768096"/>
          </a:xfrm>
          <a:prstGeom prst="rect">
            <a:avLst/>
          </a:prstGeom>
          <a:solidFill>
            <a:srgbClr val="6C63FF">
              <a:alpha val="5000"/>
            </a:srgbClr>
          </a:solidFill>
          <a:ln w="5080">
            <a:solidFill>
              <a:srgbClr val="6C63FF">
                <a:alpha val="2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583680" y="254203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E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$0.001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6583680" y="283464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0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governed action on Arc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0" y="3749040"/>
            <a:ext cx="91440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150" kern="0" dirty="0">
                <a:solidFill>
                  <a:srgbClr val="3D3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Othniel Obasi  ·  NOVTIA Ltd  ·  London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0" y="4041648"/>
            <a:ext cx="9144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C63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github.com/othnielObasi/actura-gacr-agent  ·  api.actura.nov-tia.com:3000/kairos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914400" y="4370832"/>
            <a:ext cx="7315200" cy="640080"/>
          </a:xfrm>
          <a:prstGeom prst="rect">
            <a:avLst/>
          </a:prstGeom>
          <a:solidFill>
            <a:srgbClr val="00E5A0">
              <a:alpha val="3000"/>
            </a:srgbClr>
          </a:solidFill>
          <a:ln w="5080">
            <a:solidFill>
              <a:srgbClr val="00E5A0">
                <a:alpha val="2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97280" y="4443984"/>
            <a:ext cx="6949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internet made information programmable.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Nanopayments and Arc make value programmable.</a:t>
            </a:r>
            <a:endParaRPr lang="en-US" sz="9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900" i="1" dirty="0">
                <a:solidFill>
                  <a:srgbClr val="00E5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Kairos is what happens when you combine both."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Kairos — Agentic Economy on Arc</dc:title>
  <dc:subject>PptxGenJS Presentation</dc:subject>
  <dc:creator>PptxGenJS</dc:creator>
  <cp:lastModifiedBy>PptxGenJS</cp:lastModifiedBy>
  <cp:revision>1</cp:revision>
  <dcterms:created xsi:type="dcterms:W3CDTF">2026-04-16T22:03:01Z</dcterms:created>
  <dcterms:modified xsi:type="dcterms:W3CDTF">2026-04-16T22:03:01Z</dcterms:modified>
</cp:coreProperties>
</file>